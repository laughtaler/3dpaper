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361920" cy="6583680"/>
  <p:notesSz cx="6583680" cy="153619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320040"/>
            <a:ext cx="6583680" cy="4718304"/>
          </a:xfrm>
          <a:prstGeom prst="roundRect">
            <a:avLst>
              <a:gd name="adj" fmla="val 1550"/>
            </a:avLst>
          </a:prstGeom>
          <a:solidFill>
            <a:srgbClr val="FFFFFF">
              <a:alpha val="0"/>
            </a:srgbClr>
          </a:solidFill>
          <a:ln w="25400">
            <a:solidFill>
              <a:srgbClr val="6C8E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7728" y="320040"/>
            <a:ext cx="8183880" cy="4718304"/>
          </a:xfrm>
          <a:prstGeom prst="roundRect">
            <a:avLst>
              <a:gd name="adj" fmla="val 155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384048"/>
            <a:ext cx="3291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Multiresolution neural field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321040" y="384048"/>
            <a:ext cx="5029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Boundary-informed constraint and regularized learning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914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point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(x, y, z)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84048" cy="384048"/>
          </a:xfrm>
          <a:prstGeom prst="rect">
            <a:avLst/>
          </a:prstGeom>
          <a:solidFill>
            <a:srgbClr val="FFF2CC"/>
          </a:solidFill>
          <a:ln w="13970">
            <a:solidFill>
              <a:srgbClr val="D6B65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384048" cy="384048"/>
          </a:xfrm>
          <a:prstGeom prst="rect">
            <a:avLst/>
          </a:prstGeom>
          <a:solidFill>
            <a:srgbClr val="FFF2CC"/>
          </a:solidFill>
          <a:ln w="13970">
            <a:solidFill>
              <a:srgbClr val="D6B65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84048" cy="384048"/>
          </a:xfrm>
          <a:prstGeom prst="rect">
            <a:avLst/>
          </a:prstGeom>
          <a:solidFill>
            <a:srgbClr val="FFF2CC"/>
          </a:solidFill>
          <a:ln w="13970">
            <a:solidFill>
              <a:srgbClr val="D6B65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61872" y="1773936"/>
            <a:ext cx="1078992" cy="987552"/>
          </a:xfrm>
          <a:prstGeom prst="rect">
            <a:avLst/>
          </a:prstGeom>
          <a:solidFill>
            <a:srgbClr val="FFF2CC"/>
          </a:solidFill>
          <a:ln w="13970">
            <a:solidFill>
              <a:srgbClr val="D6B65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Geometry-dependent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→ p̂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96112" y="1609344"/>
            <a:ext cx="365760" cy="393192"/>
          </a:xfrm>
          <a:prstGeom prst="line">
            <a:avLst/>
          </a:prstGeom>
          <a:noFill/>
          <a:ln w="1524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96112" y="2203704"/>
            <a:ext cx="365760" cy="64008"/>
          </a:xfrm>
          <a:prstGeom prst="line">
            <a:avLst/>
          </a:prstGeom>
          <a:noFill/>
          <a:ln w="1524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96112" y="2798064"/>
            <a:ext cx="365760" cy="-283464"/>
          </a:xfrm>
          <a:prstGeom prst="line">
            <a:avLst/>
          </a:prstGeom>
          <a:noFill/>
          <a:ln w="1524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697480" y="868680"/>
            <a:ext cx="2057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HashGrid encoder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(16 levels, 2 features / level)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97480" y="1325880"/>
            <a:ext cx="914400" cy="493776"/>
          </a:xfrm>
          <a:prstGeom prst="rect">
            <a:avLst/>
          </a:prstGeom>
          <a:solidFill>
            <a:srgbClr val="DAE8FC"/>
          </a:solidFill>
          <a:ln w="13970">
            <a:solidFill>
              <a:srgbClr val="6C8EB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coarse level 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  →  f₀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97480" y="1901952"/>
            <a:ext cx="914400" cy="493776"/>
          </a:xfrm>
          <a:prstGeom prst="rect">
            <a:avLst/>
          </a:prstGeom>
          <a:solidFill>
            <a:srgbClr val="DAE8FC"/>
          </a:solidFill>
          <a:ln w="13970">
            <a:solidFill>
              <a:srgbClr val="6C8EB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▦▦  →  f₁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97480" y="2478024"/>
            <a:ext cx="914400" cy="493776"/>
          </a:xfrm>
          <a:prstGeom prst="rect">
            <a:avLst/>
          </a:prstGeom>
          <a:solidFill>
            <a:srgbClr val="DAE8FC"/>
          </a:solidFill>
          <a:ln w="13970">
            <a:solidFill>
              <a:srgbClr val="6C8EB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▦▦▦  →  f₂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697480" y="3273552"/>
            <a:ext cx="914400" cy="493776"/>
          </a:xfrm>
          <a:prstGeom prst="rect">
            <a:avLst/>
          </a:prstGeom>
          <a:solidFill>
            <a:srgbClr val="DAE8FC"/>
          </a:solidFill>
          <a:ln w="13970">
            <a:solidFill>
              <a:srgbClr val="6C8EB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level 15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▦▦▦▦▦  →  f₁₅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54096" y="2971800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⋮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86200" y="1426464"/>
            <a:ext cx="960120" cy="786384"/>
          </a:xfrm>
          <a:prstGeom prst="rect">
            <a:avLst/>
          </a:prstGeom>
          <a:solidFill>
            <a:srgbClr val="FFFFFF"/>
          </a:solidFill>
          <a:ln w="13970">
            <a:solidFill>
              <a:srgbClr val="6C8EB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neighboring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lattice vertices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smootherstep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interpolation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3886200" y="2377440"/>
            <a:ext cx="960120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6C8EB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multiscale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basis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907792" y="3968496"/>
            <a:ext cx="1691640" cy="292608"/>
          </a:xfrm>
          <a:prstGeom prst="rect">
            <a:avLst/>
          </a:prstGeom>
          <a:solidFill>
            <a:srgbClr val="FFFFFF"/>
          </a:solidFill>
          <a:ln w="13970">
            <a:solidFill>
              <a:srgbClr val="6C8EB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32-d concatenated descriptor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340864" y="2267712"/>
            <a:ext cx="356616" cy="0"/>
          </a:xfrm>
          <a:prstGeom prst="line">
            <a:avLst/>
          </a:prstGeom>
          <a:noFill/>
          <a:ln w="1524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611880" y="1572768"/>
            <a:ext cx="274320" cy="0"/>
          </a:xfrm>
          <a:prstGeom prst="line">
            <a:avLst/>
          </a:prstGeom>
          <a:noFill/>
          <a:ln w="1524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11880" y="2148840"/>
            <a:ext cx="274320" cy="-228600"/>
          </a:xfrm>
          <a:prstGeom prst="line">
            <a:avLst/>
          </a:prstGeom>
          <a:noFill/>
          <a:ln w="1524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611880" y="2724912"/>
            <a:ext cx="274320" cy="-512064"/>
          </a:xfrm>
          <a:prstGeom prst="line">
            <a:avLst/>
          </a:prstGeom>
          <a:noFill/>
          <a:ln w="1524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611880" y="3520440"/>
            <a:ext cx="274320" cy="-1307592"/>
          </a:xfrm>
          <a:prstGeom prst="line">
            <a:avLst/>
          </a:prstGeom>
          <a:noFill/>
          <a:ln w="1524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370832" y="2816352"/>
            <a:ext cx="-420624" cy="1152144"/>
          </a:xfrm>
          <a:prstGeom prst="line">
            <a:avLst/>
          </a:prstGeom>
          <a:noFill/>
          <a:ln w="1524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99432" y="4114800"/>
            <a:ext cx="429768" cy="-1810512"/>
          </a:xfrm>
          <a:prstGeom prst="line">
            <a:avLst/>
          </a:prstGeom>
          <a:noFill/>
          <a:ln w="1524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029200" y="1389888"/>
            <a:ext cx="1152144" cy="2103120"/>
          </a:xfrm>
          <a:prstGeom prst="rect">
            <a:avLst/>
          </a:prstGeom>
          <a:solidFill>
            <a:srgbClr val="DAE8FC"/>
          </a:solidFill>
          <a:ln w="13970">
            <a:solidFill>
              <a:srgbClr val="6C8EB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decoder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hidden layers × 64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SiLU activation</a:t>
            </a:r>
            <a:endParaRPr lang="en-US" sz="880" dirty="0"/>
          </a:p>
          <a:p>
            <a:pPr algn="ctr" indent="0" marL="0">
              <a:buNone/>
            </a:pP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→ ○ → ○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→ ○ → ○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⋮     ⋮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6355080" y="2084832"/>
            <a:ext cx="548640" cy="548640"/>
          </a:xfrm>
          <a:prstGeom prst="rect">
            <a:avLst/>
          </a:prstGeom>
          <a:solidFill>
            <a:srgbClr val="F8CECC"/>
          </a:solidFill>
          <a:ln w="13970">
            <a:solidFill>
              <a:srgbClr val="B8545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Φ(p;θ)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2743200"/>
            <a:ext cx="85039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residual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81344" y="2441448"/>
            <a:ext cx="173736" cy="-82296"/>
          </a:xfrm>
          <a:prstGeom prst="line">
            <a:avLst/>
          </a:prstGeom>
          <a:noFill/>
          <a:ln w="1524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406640" y="932688"/>
            <a:ext cx="640080" cy="640080"/>
          </a:xfrm>
          <a:prstGeom prst="rect">
            <a:avLst/>
          </a:prstGeom>
          <a:solidFill>
            <a:srgbClr val="FFF2CC"/>
          </a:solidFill>
          <a:ln w="13970">
            <a:solidFill>
              <a:srgbClr val="D6B65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u_GGGF(p)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92440" y="1024128"/>
            <a:ext cx="1143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Geometric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Field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461504" y="1938528"/>
            <a:ext cx="411480" cy="411480"/>
          </a:xfrm>
          <a:prstGeom prst="rect">
            <a:avLst/>
          </a:prstGeom>
          <a:solidFill>
            <a:srgbClr val="FFF2CC"/>
          </a:solidFill>
          <a:ln w="13970">
            <a:solidFill>
              <a:srgbClr val="D6B65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955280" y="2468880"/>
            <a:ext cx="960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to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boundary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887968" y="1856232"/>
            <a:ext cx="1444752" cy="411480"/>
          </a:xfrm>
          <a:prstGeom prst="rect">
            <a:avLst/>
          </a:prstGeom>
          <a:solidFill>
            <a:srgbClr val="FFF2CC"/>
          </a:solidFill>
          <a:ln w="13970">
            <a:solidFill>
              <a:srgbClr val="D6B65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f(d) = 1 − exp(−αd)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668512" y="2743200"/>
            <a:ext cx="2788920" cy="502920"/>
          </a:xfrm>
          <a:prstGeom prst="rect">
            <a:avLst/>
          </a:prstGeom>
          <a:solidFill>
            <a:srgbClr val="F5F5F5"/>
          </a:solidFill>
          <a:ln w="13970">
            <a:solidFill>
              <a:srgbClr val="999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u_pred(p) = γu_GGGF(p) + f(d)Φ(p;θ)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034272" y="3447288"/>
            <a:ext cx="2331720" cy="640080"/>
          </a:xfrm>
          <a:prstGeom prst="rect">
            <a:avLst/>
          </a:prstGeom>
          <a:solidFill>
            <a:srgbClr val="FFFFFF"/>
          </a:solidFill>
          <a:ln w="13970">
            <a:solidFill>
              <a:srgbClr val="9673A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boundary constraint: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 → 0, residual vanishes;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near-wall orthogonality is enforced.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424928" y="4087368"/>
            <a:ext cx="2770632" cy="731520"/>
          </a:xfrm>
          <a:prstGeom prst="rect">
            <a:avLst/>
          </a:prstGeom>
          <a:solidFill>
            <a:srgbClr val="FFFFFF"/>
          </a:solidFill>
          <a:ln w="13970">
            <a:solidFill>
              <a:srgbClr val="9673A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C²-compatible interpolation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S₂(t) = 6t⁵ − 15t⁴ + 10t³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linear interpolation in HashGrid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11457432" y="2999232"/>
            <a:ext cx="475488" cy="-1563624"/>
          </a:xfrm>
          <a:prstGeom prst="line">
            <a:avLst/>
          </a:prstGeom>
          <a:noFill/>
          <a:ln w="1524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1457432" y="2999232"/>
            <a:ext cx="475488" cy="109728"/>
          </a:xfrm>
          <a:prstGeom prst="line">
            <a:avLst/>
          </a:prstGeom>
          <a:noFill/>
          <a:ln w="1524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11932920" y="932688"/>
            <a:ext cx="1874520" cy="1051560"/>
          </a:xfrm>
          <a:prstGeom prst="rect">
            <a:avLst/>
          </a:prstGeom>
          <a:solidFill>
            <a:srgbClr val="F5F5F5"/>
          </a:solidFill>
          <a:ln w="13970">
            <a:solidFill>
              <a:srgbClr val="999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cosine loss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inner-wall and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outer-boundary directions</a:t>
            </a:r>
            <a:endParaRPr lang="en-US" sz="820" dirty="0"/>
          </a:p>
          <a:p>
            <a:pPr algn="ctr" indent="0" marL="0">
              <a:buNone/>
            </a:pP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L_bc = 1 − cos(u_pred,n_b)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11932920" y="2587752"/>
            <a:ext cx="1874520" cy="1069848"/>
          </a:xfrm>
          <a:prstGeom prst="rect">
            <a:avLst/>
          </a:prstGeom>
          <a:solidFill>
            <a:srgbClr val="F5F5F5"/>
          </a:solidFill>
          <a:ln w="13970">
            <a:solidFill>
              <a:srgbClr val="999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Laplacian smoothing</a:t>
            </a:r>
            <a:endParaRPr lang="en-US" sz="820" dirty="0"/>
          </a:p>
          <a:p>
            <a:pPr algn="ctr" indent="0" marL="0">
              <a:buNone/>
            </a:pP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L_lap = ||∇²u_pred||²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finite differences on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 samples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12161520" y="3822192"/>
            <a:ext cx="14173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967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finite-difference stencil:  •—•—•</a:t>
            </a:r>
            <a:endParaRPr lang="en-US" sz="760" dirty="0"/>
          </a:p>
        </p:txBody>
      </p:sp>
      <p:sp>
        <p:nvSpPr>
          <p:cNvPr id="47" name="Text 45"/>
          <p:cNvSpPr/>
          <p:nvPr/>
        </p:nvSpPr>
        <p:spPr>
          <a:xfrm>
            <a:off x="14154912" y="2185416"/>
            <a:ext cx="868680" cy="603504"/>
          </a:xfrm>
          <a:prstGeom prst="rect">
            <a:avLst/>
          </a:prstGeom>
          <a:solidFill>
            <a:srgbClr val="F5F5F5"/>
          </a:solidFill>
          <a:ln w="13970">
            <a:solidFill>
              <a:srgbClr val="999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L_total = a₀L_bc + a₁L_lap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4566392" y="3246120"/>
            <a:ext cx="457200" cy="457200"/>
          </a:xfrm>
          <a:prstGeom prst="rect">
            <a:avLst/>
          </a:prstGeom>
          <a:solidFill>
            <a:srgbClr val="E1D5E7"/>
          </a:solidFill>
          <a:ln w="13970">
            <a:solidFill>
              <a:srgbClr val="9673A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4374368" y="3767328"/>
            <a:ext cx="822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3807440" y="1435608"/>
            <a:ext cx="347472" cy="886968"/>
          </a:xfrm>
          <a:prstGeom prst="line">
            <a:avLst/>
          </a:prstGeom>
          <a:noFill/>
          <a:ln w="1524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3807440" y="3108960"/>
            <a:ext cx="347472" cy="-530352"/>
          </a:xfrm>
          <a:prstGeom prst="line">
            <a:avLst/>
          </a:prstGeom>
          <a:noFill/>
          <a:ln w="1524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4593824" y="2788920"/>
            <a:ext cx="201168" cy="457200"/>
          </a:xfrm>
          <a:prstGeom prst="line">
            <a:avLst/>
          </a:prstGeom>
          <a:noFill/>
          <a:ln w="15240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0195560" y="4453128"/>
            <a:ext cx="1737360" cy="-1344168"/>
          </a:xfrm>
          <a:prstGeom prst="line">
            <a:avLst/>
          </a:prstGeom>
          <a:noFill/>
          <a:ln w="15240">
            <a:solidFill>
              <a:srgbClr val="9673A6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274320" y="5074920"/>
            <a:ext cx="1143000" cy="365760"/>
          </a:xfrm>
          <a:prstGeom prst="rect">
            <a:avLst/>
          </a:prstGeom>
          <a:solidFill>
            <a:srgbClr val="FFF2CC"/>
          </a:solidFill>
          <a:ln w="13970">
            <a:solidFill>
              <a:srgbClr val="999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point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463040" y="5074920"/>
            <a:ext cx="1600200" cy="365760"/>
          </a:xfrm>
          <a:prstGeom prst="rect">
            <a:avLst/>
          </a:prstGeom>
          <a:solidFill>
            <a:srgbClr val="DAE8FC"/>
          </a:solidFill>
          <a:ln w="13970">
            <a:solidFill>
              <a:srgbClr val="999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HashGrid encoder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108960" y="5074920"/>
            <a:ext cx="1645920" cy="365760"/>
          </a:xfrm>
          <a:prstGeom prst="rect">
            <a:avLst/>
          </a:prstGeom>
          <a:solidFill>
            <a:srgbClr val="DAE8FC"/>
          </a:solidFill>
          <a:ln w="13970">
            <a:solidFill>
              <a:srgbClr val="999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decoder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00600" y="5074920"/>
            <a:ext cx="1325880" cy="365760"/>
          </a:xfrm>
          <a:prstGeom prst="rect">
            <a:avLst/>
          </a:prstGeom>
          <a:solidFill>
            <a:srgbClr val="F8CECC"/>
          </a:solidFill>
          <a:ln w="13970">
            <a:solidFill>
              <a:srgbClr val="999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field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114032" y="5074920"/>
            <a:ext cx="2057400" cy="365760"/>
          </a:xfrm>
          <a:prstGeom prst="rect">
            <a:avLst/>
          </a:prstGeom>
          <a:solidFill>
            <a:srgbClr val="FFF2CC"/>
          </a:solidFill>
          <a:ln w="13970">
            <a:solidFill>
              <a:srgbClr val="999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Boundary-informed formulation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9217152" y="5074920"/>
            <a:ext cx="1874520" cy="365760"/>
          </a:xfrm>
          <a:prstGeom prst="rect">
            <a:avLst/>
          </a:prstGeom>
          <a:solidFill>
            <a:srgbClr val="DAE8FC"/>
          </a:solidFill>
          <a:ln w="13970">
            <a:solidFill>
              <a:srgbClr val="999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1137392" y="5074920"/>
            <a:ext cx="1554480" cy="365760"/>
          </a:xfrm>
          <a:prstGeom prst="rect">
            <a:avLst/>
          </a:prstGeom>
          <a:solidFill>
            <a:srgbClr val="F5F5F5"/>
          </a:solidFill>
          <a:ln w="13970">
            <a:solidFill>
              <a:srgbClr val="999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function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2737592" y="5074920"/>
            <a:ext cx="2148840" cy="365760"/>
          </a:xfrm>
          <a:prstGeom prst="rect">
            <a:avLst/>
          </a:prstGeom>
          <a:solidFill>
            <a:srgbClr val="E1D5E7"/>
          </a:solidFill>
          <a:ln w="13970">
            <a:solidFill>
              <a:srgbClr val="9999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parameters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82880" y="5788152"/>
            <a:ext cx="14959584" cy="438912"/>
          </a:xfrm>
          <a:prstGeom prst="rect">
            <a:avLst/>
          </a:prstGeom>
          <a:solidFill>
            <a:srgbClr val="FFFAF2"/>
          </a:solidFill>
          <a:ln w="13970">
            <a:solidFill>
              <a:srgbClr val="66666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Multiresolution HashGrid replaces a deep global MLP with compact local representation  |  Captures sharp CAD boundary-layer features  |  Laplacian regularization suppresses hash-induced oscillations  |  Fifth-order smootherstep improves C² compatibility  |  Output: smooth boundary-constrained growth-direction field</a:t>
            </a:r>
            <a:endParaRPr lang="en-US" sz="840" dirty="0"/>
          </a:p>
        </p:txBody>
      </p:sp>
      <p:sp>
        <p:nvSpPr>
          <p:cNvPr id="63" name="Text 61"/>
          <p:cNvSpPr/>
          <p:nvPr/>
        </p:nvSpPr>
        <p:spPr>
          <a:xfrm>
            <a:off x="182880" y="6291072"/>
            <a:ext cx="149595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Multiresolution Boundary-Constrained Neural Field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Multiresolution Boundary-Constrained Neural Field</dc:title>
  <dc:subject>Multiresolution Boundary-Constrained Neural Field</dc:subject>
  <dc:creator>ChatGPT</dc:creator>
  <cp:lastModifiedBy>ChatGPT</cp:lastModifiedBy>
  <cp:revision>1</cp:revision>
  <dcterms:created xsi:type="dcterms:W3CDTF">2026-05-22T03:15:26Z</dcterms:created>
  <dcterms:modified xsi:type="dcterms:W3CDTF">2026-05-22T03:15:26Z</dcterms:modified>
</cp:coreProperties>
</file>